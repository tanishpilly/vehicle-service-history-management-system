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Saira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1.jpe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5.png"/><Relationship Id="rId8" Type="http://schemas.openxmlformats.org/officeDocument/2006/relationships/image" Target="../media/image-6-6.svg"/><Relationship Id="rId9" Type="http://schemas.openxmlformats.org/officeDocument/2006/relationships/image" Target="../media/image-6-5.png"/><Relationship Id="rId10" Type="http://schemas.openxmlformats.org/officeDocument/2006/relationships/image" Target="../media/image-6-6.svg"/><Relationship Id="rId11" Type="http://schemas.openxmlformats.org/officeDocument/2006/relationships/image" Target="../media/image-6-5.png"/><Relationship Id="rId12" Type="http://schemas.openxmlformats.org/officeDocument/2006/relationships/image" Target="../media/image-6-6.sv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394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Vehicle Service History Management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919659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Review 3 — B.Tech DBMS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31812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227" y="1489273"/>
            <a:ext cx="5463542" cy="3178770"/>
          </a:xfrm>
          <a:prstGeom prst="roundRect">
            <a:avLst>
              <a:gd name="adj" fmla="val 5994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8483" y="1595041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8483" y="1907480"/>
            <a:ext cx="51990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relational database solution built on PostgreSQL for managing end-to-end vehicle service operations — from customer registration to invoice generation.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523" y="1595041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Team Members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63523" y="1920776"/>
            <a:ext cx="5273047" cy="80555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91026" y="2072084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Tanish Pilly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1026" y="2384524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No: 2510030055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523" y="2832100"/>
            <a:ext cx="5273047" cy="80555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1026" y="2983409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 Eshwar Sidhartha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1026" y="3295848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No: 2510030265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523" y="3743424"/>
            <a:ext cx="5273047" cy="8055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1026" y="3894733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 Manikanta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91026" y="4207173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No: 2510030199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61475" y="4787106"/>
            <a:ext cx="5381490" cy="750590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06430" y="4932065"/>
            <a:ext cx="50915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Novelty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06430" y="5202238"/>
            <a:ext cx="50915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relational model eliminating data silos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48730" y="4787106"/>
            <a:ext cx="5381490" cy="750590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93685" y="4932065"/>
            <a:ext cx="50915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Adaptability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93685" y="5202238"/>
            <a:ext cx="50915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Extensible schema for workshops of any scale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61475" y="5643463"/>
            <a:ext cx="5381490" cy="750590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06430" y="5788422"/>
            <a:ext cx="50915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06430" y="6058595"/>
            <a:ext cx="50915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with 8 relational tables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48730" y="5643463"/>
            <a:ext cx="5381490" cy="750590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93685" y="5788422"/>
            <a:ext cx="50915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Dissemination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93685" y="6058595"/>
            <a:ext cx="50915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Query-based reports and future web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2528"/>
            <a:ext cx="735391" cy="159345"/>
          </a:xfrm>
          <a:prstGeom prst="roundRect">
            <a:avLst>
              <a:gd name="adj" fmla="val 47408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724378" y="573980"/>
            <a:ext cx="121917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28464"/>
            <a:ext cx="10868745" cy="327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Developed Methodology &amp; System Workflow</a:t>
            </a:r>
            <a:endParaRPr lang="en-US" sz="2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634" y="1156196"/>
            <a:ext cx="7364427" cy="27635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4021" y="3248861"/>
            <a:ext cx="1110776" cy="2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Parts Used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64139" y="3141870"/>
            <a:ext cx="1110776" cy="42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Service Record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1866" y="3141870"/>
            <a:ext cx="1110775" cy="42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Service Booking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79592" y="3248861"/>
            <a:ext cx="1110776" cy="2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Vehicle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56887" y="3248861"/>
            <a:ext cx="1110776" cy="2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1475" y="4061023"/>
            <a:ext cx="5306384" cy="16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Database Implementation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99744"/>
            <a:ext cx="5306384" cy="6026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9845" y="4417318"/>
            <a:ext cx="5020442" cy="16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DBMS Platform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9845" y="4647704"/>
            <a:ext cx="5020442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— open-source, production-grade relational database engine with full ACID compliance.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968875"/>
            <a:ext cx="5306384" cy="6026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9845" y="5086449"/>
            <a:ext cx="5020442" cy="16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8 Relational Tables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29845" y="5316835"/>
            <a:ext cx="5020442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· Vehicles · Mechanics · Service Bookings · Service Records · Spare Parts · Parts Used · Invoices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638006"/>
            <a:ext cx="5306384" cy="60265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9845" y="5755580"/>
            <a:ext cx="5020442" cy="16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29845" y="5985966"/>
            <a:ext cx="5020442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keys and foreign keys enforce referential integrity across all entity relationships.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6230186" y="4061023"/>
            <a:ext cx="5306384" cy="16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Entity Relationships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0186" y="4299744"/>
          <a:ext cx="9143771" cy="914400"/>
        </p:xfrm>
        <a:graphic>
          <a:graphicData uri="http://schemas.openxmlformats.org/drawingml/2006/table">
            <a:tbl>
              <a:tblPr/>
              <a:tblGrid>
                <a:gridCol w="2653192"/>
                <a:gridCol w="2653192"/>
              </a:tblGrid>
              <a:tr h="2327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Entity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 To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5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Service Record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Customer Vehicle + Mechanic + Parts Used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5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Service Booking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Customer + Vehicle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5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Parts Used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Service Record + Spare Parts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5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Invoice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Service Record + Customer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7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Mechanic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Service Record (assignment)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4920" marR="10492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3" name="Shape 16"/>
          <p:cNvSpPr/>
          <p:nvPr/>
        </p:nvSpPr>
        <p:spPr>
          <a:xfrm>
            <a:off x="6230186" y="4525948"/>
            <a:ext cx="5306384" cy="6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6230186" y="4761884"/>
            <a:ext cx="5306384" cy="6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6230186" y="4997820"/>
            <a:ext cx="5306384" cy="6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6230186" y="5233756"/>
            <a:ext cx="5306384" cy="6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6230186" y="5469693"/>
            <a:ext cx="5306384" cy="6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6230186" y="5796558"/>
            <a:ext cx="53063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service record is the central entity, linking vehicle, mechanic, parts consumption, and billing into a single consistent transaction.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5241"/>
            <a:ext cx="528227" cy="176014"/>
          </a:xfrm>
          <a:prstGeom prst="roundRect">
            <a:avLst>
              <a:gd name="adj" fmla="val 47358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730926" y="689967"/>
            <a:ext cx="998909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NOVELTY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63600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Novelty of Developed Methodology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78133" y="1346895"/>
            <a:ext cx="5459871" cy="3396258"/>
          </a:xfrm>
          <a:prstGeom prst="roundRect">
            <a:avLst>
              <a:gd name="adj" fmla="val 4909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3819" y="1427857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Integration Benefit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3819" y="1689695"/>
            <a:ext cx="522849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relational database unifies service history, inventory, mechanics, and billing — eliminating data silos and manual record-keeping that plague traditional workshop management.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3819" y="2124571"/>
            <a:ext cx="5228499" cy="127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3819" y="2257227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Design Principle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3819" y="2519065"/>
            <a:ext cx="522849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data point — from customer registration to invoice — is interconnected through foreign key constraints, ensuring zero orphaned records and complete auditability.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43382" y="1427857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Advantages Over Manual Systems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3382" y="1699816"/>
            <a:ext cx="260443" cy="260449"/>
          </a:xfrm>
          <a:prstGeom prst="roundRect">
            <a:avLst>
              <a:gd name="adj" fmla="val 40007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6740" y="1721495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4785" y="1739602"/>
            <a:ext cx="4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Centralized 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4785" y="2001441"/>
            <a:ext cx="495178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vehicle service history in one relational database — no scattered paper files or disconnected spreadsheets.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43382" y="2478385"/>
            <a:ext cx="260443" cy="260449"/>
          </a:xfrm>
          <a:prstGeom prst="roundRect">
            <a:avLst>
              <a:gd name="adj" fmla="val 40007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6740" y="2500064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4785" y="2518172"/>
            <a:ext cx="4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Complete Service Records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4785" y="2780010"/>
            <a:ext cx="495178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service is linked to a specific vehicle, customer, mechanic, and parts used — full traceability guaranteed.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3382" y="3256955"/>
            <a:ext cx="260443" cy="260449"/>
          </a:xfrm>
          <a:prstGeom prst="roundRect">
            <a:avLst>
              <a:gd name="adj" fmla="val 40007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6740" y="3278634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84785" y="3296741"/>
            <a:ext cx="4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Automated Billing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4785" y="3558580"/>
            <a:ext cx="495178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costs and invoices generated automatically from service records and parts used — no manual calculation.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43382" y="4035524"/>
            <a:ext cx="260443" cy="260449"/>
          </a:xfrm>
          <a:prstGeom prst="roundRect">
            <a:avLst>
              <a:gd name="adj" fmla="val 40007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6740" y="4057204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84785" y="4075311"/>
            <a:ext cx="4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Advanced Retrieval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4785" y="4337149"/>
            <a:ext cx="495178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 function enables complete vehicle service history lookup by registration number with a single query call.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1475" y="4834235"/>
            <a:ext cx="5393892" cy="643731"/>
          </a:xfrm>
          <a:prstGeom prst="roundRect">
            <a:avLst>
              <a:gd name="adj" fmla="val 1618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9861" y="4962624"/>
            <a:ext cx="513712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Mechanic Tracking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9861" y="5192117"/>
            <a:ext cx="513712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allocation and mechanic performance monitoring across all assignments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36328" y="4834235"/>
            <a:ext cx="5393892" cy="643731"/>
          </a:xfrm>
          <a:prstGeom prst="roundRect">
            <a:avLst>
              <a:gd name="adj" fmla="val 1618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4714" y="4962624"/>
            <a:ext cx="513712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Inventory Management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4714" y="5192117"/>
            <a:ext cx="513712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spare-parts usage and stock level tracking per service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1475" y="5558929"/>
            <a:ext cx="5393892" cy="643731"/>
          </a:xfrm>
          <a:prstGeom prst="roundRect">
            <a:avLst>
              <a:gd name="adj" fmla="val 1618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861" y="5687318"/>
            <a:ext cx="513712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SQL-Based Analytics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9861" y="5916811"/>
            <a:ext cx="513712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Reports and service statistics generated directly from structured queries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36328" y="5558929"/>
            <a:ext cx="5393892" cy="643731"/>
          </a:xfrm>
          <a:prstGeom prst="roundRect">
            <a:avLst>
              <a:gd name="adj" fmla="val 16186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4714" y="5687318"/>
            <a:ext cx="513712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Integrated Data Model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4714" y="5916811"/>
            <a:ext cx="513712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Customer, vehicle, mechanic, and service data in related, queryable tables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2794"/>
            <a:ext cx="811788" cy="188516"/>
          </a:xfrm>
          <a:prstGeom prst="roundRect">
            <a:avLst>
              <a:gd name="adj" fmla="val 47376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800001"/>
            <a:ext cx="1272548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8851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Adaptability of Methodology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608634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Current System Flexibility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007" y="1910705"/>
            <a:ext cx="186031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4591" y="1906984"/>
            <a:ext cx="487995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Multi-Customer &amp; Multi-Vehicle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4591" y="2193727"/>
            <a:ext cx="487995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simultaneous records for any number of customers and vehicles without structural changes.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007" y="2730748"/>
            <a:ext cx="186031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4591" y="2727027"/>
            <a:ext cx="487995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Brand &amp; Model Agnostic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64591" y="3013770"/>
            <a:ext cx="487995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vehicle brands and models are added as data rows — no schema modifications required.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007" y="3550791"/>
            <a:ext cx="186031" cy="186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4591" y="3547070"/>
            <a:ext cx="487995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Expandable Service Types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64591" y="3833813"/>
            <a:ext cx="487995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service categories introduced into the system without altering existing table structures.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8007" y="4370834"/>
            <a:ext cx="186031" cy="1860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64591" y="4367113"/>
            <a:ext cx="487995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Dynamic Mechanic Registry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64591" y="4653855"/>
            <a:ext cx="487995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mechanics registered and assigned to service records at any time.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8007" y="5017244"/>
            <a:ext cx="186031" cy="18603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64591" y="5013523"/>
            <a:ext cx="487995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Scalable Inventory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064591" y="5300266"/>
            <a:ext cx="487995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Spare-parts inventory table expandable as new parts are stocked by the workshop.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6253502" y="1608634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Extension Roadmap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3502" y="1906984"/>
            <a:ext cx="3962301" cy="222885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61475" y="5683052"/>
            <a:ext cx="10868745" cy="412155"/>
          </a:xfrm>
          <a:prstGeom prst="roundRect">
            <a:avLst>
              <a:gd name="adj" fmla="val 27087"/>
            </a:avLst>
          </a:prstGeom>
          <a:solidFill>
            <a:srgbClr val="7E3202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495" y="5819080"/>
            <a:ext cx="154976" cy="12402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64491" y="5806976"/>
            <a:ext cx="109512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schema is designed for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zero-disruption extensibility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future modules attach as additional tables or views without modifying the validated core schema.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1798"/>
            <a:ext cx="1275921" cy="163413"/>
          </a:xfrm>
          <a:prstGeom prst="roundRect">
            <a:avLst>
              <a:gd name="adj" fmla="val 47366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725965" y="604044"/>
            <a:ext cx="1756525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 EVALUATION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63091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Methodology Evaluation &amp; Implementation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475" y="1273671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PostgreSQL Implementation Validation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20130"/>
          <a:ext cx="9143771" cy="914400"/>
        </p:xfrm>
        <a:graphic>
          <a:graphicData uri="http://schemas.openxmlformats.org/drawingml/2006/table">
            <a:tbl>
              <a:tblPr/>
              <a:tblGrid>
                <a:gridCol w="2651654"/>
                <a:gridCol w="2651654"/>
              </a:tblGrid>
              <a:tr h="241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Validation Criterion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Status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 relational tables created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Primary &amp; foreign key constraints enforced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65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Sample data inserted (customers, vehicles, mechanics, services)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SQL JOIN queries for complete vehicle history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Stored function for history lookup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Low-stock inventory monitoring queries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Parts consumption &amp; usage pattern analysis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4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Invoice and service-cost financial queries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33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Aggregate statistics: service frequency, cost trends, mechanic performance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C8337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1754904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1999571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2244239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2630785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2875452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61475" y="3120120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61475" y="3364787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1475" y="3609454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61475" y="3854122"/>
            <a:ext cx="5303308" cy="671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233262" y="1273671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Evaluation Artifacts</a:t>
            </a:r>
            <a:endParaRPr lang="en-US" sz="10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33262" y="1520130"/>
            <a:ext cx="2616730" cy="118854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60964" y="1586905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353413" y="1925141"/>
            <a:ext cx="23764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PostgreSQL Schema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353413" y="2162870"/>
            <a:ext cx="237642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DDL scripts with table definitions, primary keys, foreign keys, and constraints for all 8 entities.</a:t>
            </a:r>
            <a:endParaRPr lang="en-US" sz="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9840" y="1520130"/>
            <a:ext cx="2616730" cy="118854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147542" y="1586905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9039991" y="1925141"/>
            <a:ext cx="23764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Sample Query Results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039991" y="2162870"/>
            <a:ext cx="237642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JOIN queries retrieving full service history, parts used per service, and invoice totals per customer.</a:t>
            </a:r>
            <a:endParaRPr lang="en-US" sz="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3262" y="2778522"/>
            <a:ext cx="2616730" cy="11885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60964" y="2845296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353413" y="3183533"/>
            <a:ext cx="23764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Stored Function Output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353413" y="3421261"/>
            <a:ext cx="237642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PL/pgSQL function returning complete service history for any vehicle registration number.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9840" y="2778522"/>
            <a:ext cx="2616730" cy="118854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147542" y="2845296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039991" y="3183533"/>
            <a:ext cx="237642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Consistency Proof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9039991" y="3421261"/>
            <a:ext cx="2376428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Referential integrity verified — no orphaned records exist across any foreign key relationship.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1604823" y="446782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8</a:t>
            </a:r>
            <a:endParaRPr lang="en-US" sz="2750" dirty="0"/>
          </a:p>
        </p:txBody>
      </p:sp>
      <p:sp>
        <p:nvSpPr>
          <p:cNvPr id="34" name="Text 27"/>
          <p:cNvSpPr/>
          <p:nvPr/>
        </p:nvSpPr>
        <p:spPr>
          <a:xfrm>
            <a:off x="661475" y="4928691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Relational Tables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661475" y="513844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implemented in PostgreSQL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7082851" y="446782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9</a:t>
            </a:r>
            <a:endParaRPr lang="en-US" sz="2750" dirty="0"/>
          </a:p>
        </p:txBody>
      </p:sp>
      <p:sp>
        <p:nvSpPr>
          <p:cNvPr id="37" name="Text 30"/>
          <p:cNvSpPr/>
          <p:nvPr/>
        </p:nvSpPr>
        <p:spPr>
          <a:xfrm>
            <a:off x="6139503" y="4928691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Validated Criteria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6139503" y="513844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implementation checkpoints confirmed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1604823" y="547370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750" dirty="0"/>
          </a:p>
        </p:txBody>
      </p:sp>
      <p:sp>
        <p:nvSpPr>
          <p:cNvPr id="40" name="Text 33"/>
          <p:cNvSpPr/>
          <p:nvPr/>
        </p:nvSpPr>
        <p:spPr>
          <a:xfrm>
            <a:off x="661475" y="5934571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Stored Function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661475" y="614432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 history lookup by registration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7082851" y="5473700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2750" dirty="0"/>
          </a:p>
        </p:txBody>
      </p:sp>
      <p:sp>
        <p:nvSpPr>
          <p:cNvPr id="43" name="Text 36"/>
          <p:cNvSpPr/>
          <p:nvPr/>
        </p:nvSpPr>
        <p:spPr>
          <a:xfrm>
            <a:off x="6139503" y="5934571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Query Categories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6139503" y="6144320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History · Inventory · Finance · Analytics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4726"/>
            <a:ext cx="976487" cy="114697"/>
          </a:xfrm>
          <a:prstGeom prst="roundRect">
            <a:avLst>
              <a:gd name="adj" fmla="val 47450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706817" y="527348"/>
            <a:ext cx="1495388" cy="69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DISSEMINATION &amp; CONCLUSION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661475" y="63321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Dissemination, Accessibility &amp; Conclusion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955774"/>
            <a:ext cx="534220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Accessibility Framework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112639"/>
            <a:ext cx="2653837" cy="580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728" y="1194495"/>
            <a:ext cx="246473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Structured Retrieval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68728" y="1347093"/>
            <a:ext cx="246473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Organized relational schema allows stakeholders to access any slice of service information — by customer, vehicle, mechanic, or date range.</a:t>
            </a:r>
            <a:endParaRPr lang="en-US" sz="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9839" y="1112639"/>
            <a:ext cx="2653837" cy="5806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7092" y="1194495"/>
            <a:ext cx="246473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Query-Based Reports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457092" y="1347093"/>
            <a:ext cx="2464731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queries generate custom reports tailored to different stakeholders — workshop managers, mechanics, and accountants each query only what they need.</a:t>
            </a:r>
            <a:endParaRPr lang="en-US" sz="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727795"/>
            <a:ext cx="2653837" cy="4925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728" y="1809651"/>
            <a:ext cx="246473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Vehicle Lookup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768728" y="1962249"/>
            <a:ext cx="246473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service history retrieved using registration number alone — the stored function abstracts SQL complexity from the end user.</a:t>
            </a:r>
            <a:endParaRPr lang="en-US" sz="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9839" y="1727795"/>
            <a:ext cx="2653837" cy="4925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57092" y="1809651"/>
            <a:ext cx="246473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Modular Information Views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3457092" y="1962249"/>
            <a:ext cx="246473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records, parts consumption, and invoice data are independently queryable or combined through JOIN operations as required.</a:t>
            </a:r>
            <a:endParaRPr lang="en-US" sz="5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254845"/>
            <a:ext cx="2653837" cy="49252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8728" y="2336701"/>
            <a:ext cx="246473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Interface Layer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768728" y="2489299"/>
            <a:ext cx="246473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or mobile application can expose the existing database via an API — no schema redesign required, only a presentation layer added.</a:t>
            </a:r>
            <a:endParaRPr lang="en-US" sz="5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49839" y="2254845"/>
            <a:ext cx="2653837" cy="49252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57092" y="2336701"/>
            <a:ext cx="246473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Documentation</a:t>
            </a:r>
            <a:endParaRPr lang="en-US" sz="700" dirty="0"/>
          </a:p>
        </p:txBody>
      </p:sp>
      <p:sp>
        <p:nvSpPr>
          <p:cNvPr id="23" name="Text 15"/>
          <p:cNvSpPr/>
          <p:nvPr/>
        </p:nvSpPr>
        <p:spPr>
          <a:xfrm>
            <a:off x="3457092" y="2489299"/>
            <a:ext cx="246473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schema, ER diagrams, and query documentation support future development and knowledge transfer.</a:t>
            </a:r>
            <a:endParaRPr lang="en-US" sz="550" dirty="0"/>
          </a:p>
        </p:txBody>
      </p:sp>
      <p:sp>
        <p:nvSpPr>
          <p:cNvPr id="24" name="Shape 16"/>
          <p:cNvSpPr/>
          <p:nvPr/>
        </p:nvSpPr>
        <p:spPr>
          <a:xfrm>
            <a:off x="6139900" y="921246"/>
            <a:ext cx="5451140" cy="1864916"/>
          </a:xfrm>
          <a:prstGeom prst="roundRect">
            <a:avLst>
              <a:gd name="adj" fmla="val 5837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6215403" y="955774"/>
            <a:ext cx="530013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Conclusion</a:t>
            </a:r>
            <a:endParaRPr lang="en-US" sz="700" dirty="0"/>
          </a:p>
        </p:txBody>
      </p:sp>
      <p:sp>
        <p:nvSpPr>
          <p:cNvPr id="26" name="Text 18"/>
          <p:cNvSpPr/>
          <p:nvPr/>
        </p:nvSpPr>
        <p:spPr>
          <a:xfrm>
            <a:off x="6215403" y="1108373"/>
            <a:ext cx="5909718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ct val="97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Vehicle Service History Management System</a:t>
            </a:r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delivers a structured relational approach for managing the full lifecycle of automotive service operations.</a:t>
            </a:r>
            <a:endParaRPr lang="en-US" sz="550" dirty="0"/>
          </a:p>
        </p:txBody>
      </p:sp>
      <p:sp>
        <p:nvSpPr>
          <p:cNvPr id="27" name="Shape 19"/>
          <p:cNvSpPr/>
          <p:nvPr/>
        </p:nvSpPr>
        <p:spPr>
          <a:xfrm>
            <a:off x="6215403" y="1254125"/>
            <a:ext cx="5300133" cy="63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6215403" y="1318121"/>
            <a:ext cx="151106" cy="94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550" dirty="0"/>
          </a:p>
        </p:txBody>
      </p:sp>
      <p:sp>
        <p:nvSpPr>
          <p:cNvPr id="29" name="Shape 21"/>
          <p:cNvSpPr/>
          <p:nvPr/>
        </p:nvSpPr>
        <p:spPr>
          <a:xfrm>
            <a:off x="6215403" y="1440160"/>
            <a:ext cx="2632803" cy="63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30" name="Text 22"/>
          <p:cNvSpPr/>
          <p:nvPr/>
        </p:nvSpPr>
        <p:spPr>
          <a:xfrm>
            <a:off x="6215403" y="1490563"/>
            <a:ext cx="263280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31" name="Text 23"/>
          <p:cNvSpPr/>
          <p:nvPr/>
        </p:nvSpPr>
        <p:spPr>
          <a:xfrm>
            <a:off x="6215403" y="1643162"/>
            <a:ext cx="2632803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8-table PostgreSQL schema with enforced referential integrity</a:t>
            </a:r>
            <a:endParaRPr lang="en-US" sz="550" dirty="0"/>
          </a:p>
        </p:txBody>
      </p:sp>
      <p:sp>
        <p:nvSpPr>
          <p:cNvPr id="32" name="Text 24"/>
          <p:cNvSpPr/>
          <p:nvPr/>
        </p:nvSpPr>
        <p:spPr>
          <a:xfrm>
            <a:off x="8882733" y="1318121"/>
            <a:ext cx="151106" cy="94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550" dirty="0"/>
          </a:p>
        </p:txBody>
      </p:sp>
      <p:sp>
        <p:nvSpPr>
          <p:cNvPr id="33" name="Shape 25"/>
          <p:cNvSpPr/>
          <p:nvPr/>
        </p:nvSpPr>
        <p:spPr>
          <a:xfrm>
            <a:off x="8882733" y="1440160"/>
            <a:ext cx="2632803" cy="63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34" name="Text 26"/>
          <p:cNvSpPr/>
          <p:nvPr/>
        </p:nvSpPr>
        <p:spPr>
          <a:xfrm>
            <a:off x="8882733" y="1490563"/>
            <a:ext cx="263280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Adaptability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8882733" y="1643162"/>
            <a:ext cx="2632803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Schema-agnostic extensibility for new vehicle types, service categories, and mechanics</a:t>
            </a:r>
            <a:endParaRPr lang="en-US" sz="550" dirty="0"/>
          </a:p>
        </p:txBody>
      </p:sp>
      <p:sp>
        <p:nvSpPr>
          <p:cNvPr id="36" name="Text 28"/>
          <p:cNvSpPr/>
          <p:nvPr/>
        </p:nvSpPr>
        <p:spPr>
          <a:xfrm>
            <a:off x="6215403" y="1910556"/>
            <a:ext cx="151106" cy="94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550" dirty="0"/>
          </a:p>
        </p:txBody>
      </p:sp>
      <p:sp>
        <p:nvSpPr>
          <p:cNvPr id="37" name="Shape 29"/>
          <p:cNvSpPr/>
          <p:nvPr/>
        </p:nvSpPr>
        <p:spPr>
          <a:xfrm>
            <a:off x="6215403" y="2032595"/>
            <a:ext cx="2632803" cy="63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38" name="Text 30"/>
          <p:cNvSpPr/>
          <p:nvPr/>
        </p:nvSpPr>
        <p:spPr>
          <a:xfrm>
            <a:off x="6215403" y="2082998"/>
            <a:ext cx="263280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6215403" y="2235597"/>
            <a:ext cx="2632803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9 implementation criteria validated with sample data and stored functions</a:t>
            </a:r>
            <a:endParaRPr lang="en-US" sz="550" dirty="0"/>
          </a:p>
        </p:txBody>
      </p:sp>
      <p:sp>
        <p:nvSpPr>
          <p:cNvPr id="40" name="Text 32"/>
          <p:cNvSpPr/>
          <p:nvPr/>
        </p:nvSpPr>
        <p:spPr>
          <a:xfrm>
            <a:off x="8882733" y="1910556"/>
            <a:ext cx="151106" cy="94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550" dirty="0"/>
          </a:p>
        </p:txBody>
      </p:sp>
      <p:sp>
        <p:nvSpPr>
          <p:cNvPr id="41" name="Shape 33"/>
          <p:cNvSpPr/>
          <p:nvPr/>
        </p:nvSpPr>
        <p:spPr>
          <a:xfrm>
            <a:off x="8882733" y="2032595"/>
            <a:ext cx="2632803" cy="63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42" name="Text 34"/>
          <p:cNvSpPr/>
          <p:nvPr/>
        </p:nvSpPr>
        <p:spPr>
          <a:xfrm>
            <a:off x="8882733" y="2082998"/>
            <a:ext cx="263280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Extensibility</a:t>
            </a:r>
            <a:endParaRPr lang="en-US" sz="700" dirty="0"/>
          </a:p>
        </p:txBody>
      </p:sp>
      <p:sp>
        <p:nvSpPr>
          <p:cNvPr id="43" name="Text 35"/>
          <p:cNvSpPr/>
          <p:nvPr/>
        </p:nvSpPr>
        <p:spPr>
          <a:xfrm>
            <a:off x="8882733" y="2235597"/>
            <a:ext cx="2632803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from small workshops to multi-branch service centers with a web/mobile layer</a:t>
            </a:r>
            <a:endParaRPr lang="en-US" sz="55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4927" y="2824956"/>
            <a:ext cx="4121741" cy="352831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352223" y="3882660"/>
            <a:ext cx="1624364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Relational Foundation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6527828" y="3663218"/>
            <a:ext cx="1384617" cy="39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Operational Coverage</a:t>
            </a:r>
            <a:endParaRPr lang="en-US" sz="1250" dirty="0"/>
          </a:p>
        </p:txBody>
      </p:sp>
      <p:sp>
        <p:nvSpPr>
          <p:cNvPr id="47" name="Text 38"/>
          <p:cNvSpPr/>
          <p:nvPr/>
        </p:nvSpPr>
        <p:spPr>
          <a:xfrm>
            <a:off x="5842584" y="5316322"/>
            <a:ext cx="1200943" cy="397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Extensible Architecture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2026-09-16T14:34:54Z</dcterms:created>
  <dcterms:modified xsi:type="dcterms:W3CDTF">2026-09-16T14:34:54Z</dcterms:modified>
</cp:coreProperties>
</file>