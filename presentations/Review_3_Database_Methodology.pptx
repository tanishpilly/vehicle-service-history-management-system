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Mukta"/>
      <p:regular r:id="rId201314"/>
    </p:embeddedFont>
    <p:embeddedFont>
      <p:font typeface="Mukta Medium"/>
      <p:regular r:id="rId201315"/>
    </p:embeddedFont>
    <p:embeddedFont>
      <p:font typeface="Mukta Light"/>
      <p:regular r:id="rId201316"/>
    </p:embeddedFont>
    <p:embeddedFont>
      <p:font typeface="Mukta Bold"/>
      <p:regular r:id="rId201317"/>
    </p:embeddedFont>
    <p:embeddedFont>
      <p:font typeface="Prompt Bold"/>
      <p:regular r:id="rId201318"/>
    </p:embeddedFont>
    <p:embeddedFont>
      <p:font typeface="Prompt Light"/>
      <p:regular r:id="rId201319"/>
    </p:embeddedFont>
    <p:embeddedFont>
      <p:font typeface="Prompt"/>
      <p:regular r:id="rId201320"/>
    </p:embeddedFont>
    <p:embeddedFont>
      <p:font typeface="Promp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2025352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Vehicle Service History Management System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250605"/>
            <a:ext cx="61797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Review 2 — Literature Review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91898" y="3844925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Tanish Pilly – 2510030055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A Eshwar Sidhartha – 2510030265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G Manikanta – 2510030199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756146"/>
            <a:ext cx="6179784" cy="3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Relevance &amp; Problem Context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91898" y="1361480"/>
            <a:ext cx="6179784" cy="2509540"/>
          </a:xfrm>
          <a:prstGeom prst="rect">
            <a:avLst/>
          </a:prstGeom>
          <a:noFill/>
          <a:ln/>
        </p:spPr>
        <p:txBody>
          <a:bodyPr wrap="square" lIns="0" tIns="69436" rIns="0" bIns="0" rtlCol="0" anchor="t">
            <a:normAutofit/>
          </a:bodyPr>
          <a:lstStyle/>
          <a:p>
            <a:pPr algn="l" marL="274320" indent="-274320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Service records are often lost, misfiled, or stored in paper form, preventing reliable maintenance histories.</a:t>
            </a:r>
            <a:endParaRPr lang="en-US" sz="1350" dirty="0"/>
          </a:p>
          <a:p>
            <a:pPr algn="l" marL="274320" indent="-274320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Technicians and owners face difficulty accessing prior repairs, leading to redundant work and missed maintenance.</a:t>
            </a:r>
            <a:endParaRPr lang="en-US" sz="1350" dirty="0"/>
          </a:p>
          <a:p>
            <a:pPr algn="l" marL="274320" indent="-274320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There is no single authoritative source tying vehicle, mechanic, parts and billing data together.</a:t>
            </a:r>
            <a:endParaRPr lang="en-US" sz="1350" dirty="0"/>
          </a:p>
          <a:p>
            <a:pPr algn="l" marL="274320" indent="-274320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Spare-parts usage and inventory are poorly tracked, increasing costs and downtime.</a:t>
            </a:r>
            <a:endParaRPr lang="en-US" sz="1350" dirty="0"/>
          </a:p>
          <a:p>
            <a:pPr algn="l" marL="274320" indent="-274320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Disconnected billing reduces transparency and complicates warranty/claims processing.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91898" y="4035723"/>
            <a:ext cx="6179784" cy="76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Connection to project: Each of these issues motivates a centralized, queryable system that records vehicles, services, mechanics, parts used, and invoices — reducing information loss and improving decision‑making.   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91898" y="4968677"/>
            <a:ext cx="6179784" cy="1133177"/>
          </a:xfrm>
          <a:prstGeom prst="roundRect">
            <a:avLst>
              <a:gd name="adj" fmla="val 6434"/>
            </a:avLst>
          </a:prstGeom>
          <a:solidFill>
            <a:srgbClr val="542C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427" y="5178028"/>
            <a:ext cx="216986" cy="1735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55943" y="5158482"/>
            <a:ext cx="5442211" cy="76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system provides a centralized relational database for maintaining complete vehicle service history, service operations, spare parts and billing information.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24297"/>
            <a:ext cx="10751670" cy="357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Literature Review — Selected Studies (compact)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20012" y="1332607"/>
            <a:ext cx="1136125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Four credible sources focused on digital vehicle/fleet maintenance and service-record systems.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20012" y="1702792"/>
            <a:ext cx="10751670" cy="4060627"/>
          </a:xfrm>
          <a:prstGeom prst="roundRect">
            <a:avLst>
              <a:gd name="adj" fmla="val 166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012" y="2104628"/>
            <a:ext cx="10751670" cy="1004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0012" y="2961283"/>
            <a:ext cx="10751670" cy="1004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012" y="3817938"/>
            <a:ext cx="10751670" cy="1004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0012" y="4674592"/>
            <a:ext cx="10751670" cy="1004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7291" y="1790799"/>
            <a:ext cx="286546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Study / Sys.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64632" y="1790799"/>
            <a:ext cx="15767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Yr.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3253" y="1790799"/>
            <a:ext cx="222105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Goal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86184" y="1790799"/>
            <a:ext cx="2650662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Approach / Tech.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48722" y="1790799"/>
            <a:ext cx="286546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Key finding / limit.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7291" y="2189460"/>
            <a:ext cx="2255880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Hsieh et al. — “An IoT-based predictive maintenance system for vehicle fleets” (IEEE Access)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64632" y="2189460"/>
            <a:ext cx="15767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2019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3253" y="2189460"/>
            <a:ext cx="1611471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 downtime with sensor-based predictive maintenance.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86184" y="2189460"/>
            <a:ext cx="204107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IoT sensors + cloud analytics; time-series DB; REST APIs.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48722" y="2189460"/>
            <a:ext cx="225588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Improved uptime; service records and billing were not integrated.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7291" y="3046115"/>
            <a:ext cx="2255880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Khraisat &amp; Al-Kasasbeh — “A vehicle maintenance tracking system for small workshops” (JSS)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64632" y="3046115"/>
            <a:ext cx="15767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2018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3253" y="3046115"/>
            <a:ext cx="161147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Provide a lightweight workshop tracking app.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86184" y="3046115"/>
            <a:ext cx="204107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Web app, relational DB, mobile UI for mechanics.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48722" y="3046115"/>
            <a:ext cx="225588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Fits shop workflows; weak parts inventory and audit trails.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7291" y="3902770"/>
            <a:ext cx="2255880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Chong &amp; Kumar — “Digital vehicle record systems and owner-centric maintenance logs” (TRR)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64632" y="3902770"/>
            <a:ext cx="15767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2020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3253" y="3902770"/>
            <a:ext cx="1611471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Test digital logs that follow the vehicle.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86184" y="3902770"/>
            <a:ext cx="204107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Centralized records; XML/JSON exchange formats.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48722" y="3902770"/>
            <a:ext cx="2255880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Better owner visibility; inconsistent adoption and no billing link.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7291" y="4759424"/>
            <a:ext cx="225588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Fleetio (commercial) — product docs and case studies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64632" y="4759424"/>
            <a:ext cx="15767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2020–2023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3253" y="4759424"/>
            <a:ext cx="1611471" cy="915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End-to-end fleet maintenance: scheduling, work orders, parts, reports.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86184" y="4759424"/>
            <a:ext cx="204107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SaaS platform, relational DB, telematics APIs.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48722" y="4759424"/>
            <a:ext cx="225588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Robust features; enterprise cost and limited open schema.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5220" y="5904607"/>
            <a:ext cx="1136125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Sources: IEEE Access 2019; JSS 2018; TRR 2020; Fleetio product documentation (public case studies).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25884"/>
            <a:ext cx="10751670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Comparative Analysis of Reviewed Systems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720012" y="1386681"/>
            <a:ext cx="10751670" cy="2941042"/>
          </a:xfrm>
          <a:prstGeom prst="roundRect">
            <a:avLst>
              <a:gd name="adj" fmla="val 243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0012" y="1827312"/>
            <a:ext cx="10751670" cy="106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0012" y="2513905"/>
            <a:ext cx="10751670" cy="106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0012" y="2951361"/>
            <a:ext cx="10751670" cy="106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012" y="3637955"/>
            <a:ext cx="10751670" cy="1064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89099" y="1386681"/>
            <a:ext cx="10648" cy="2941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6833" y="1386681"/>
            <a:ext cx="10648" cy="2941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814174" y="1386681"/>
            <a:ext cx="10648" cy="2941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96915" y="1484015"/>
            <a:ext cx="262823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Study /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2628" y="1484015"/>
            <a:ext cx="241026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Focus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0362" y="1484015"/>
            <a:ext cx="2839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87703" y="1484015"/>
            <a:ext cx="391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Technology / Limitation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915" y="1921470"/>
            <a:ext cx="262823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Hsieh et 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2628" y="1921470"/>
            <a:ext cx="180067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Fleet predictive maintenance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10362" y="1921470"/>
            <a:ext cx="2230282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Sensor alerts, ingestion,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87703" y="1921470"/>
            <a:ext cx="33072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IoT + cloud; no integrated billing or parts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915" y="2608064"/>
            <a:ext cx="262823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Khraisat &amp; Al-Kasasbeh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62628" y="2608064"/>
            <a:ext cx="241026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Workshop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10362" y="2608064"/>
            <a:ext cx="2839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 orders, job cards, basic 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87703" y="2608064"/>
            <a:ext cx="391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Web app; weak inventory and audit trails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915" y="3045520"/>
            <a:ext cx="262823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Chong &amp; Kumar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62628" y="3045520"/>
            <a:ext cx="241026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Owner-centric digital logs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0362" y="3045520"/>
            <a:ext cx="2230282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Portable records, exchange formats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87703" y="3045520"/>
            <a:ext cx="33072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Central records; adoption and billing linkage issues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915" y="3732113"/>
            <a:ext cx="262823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Fleetio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62628" y="3732113"/>
            <a:ext cx="180067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Enterprise fleet maintenance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0362" y="3732113"/>
            <a:ext cx="2230282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Scheduling, parts, reporting, telematics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87703" y="3732113"/>
            <a:ext cx="391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SaaS; cost and closed schema limit extensibility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0012" y="4539357"/>
            <a:ext cx="10751670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Common Findings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20012" y="4987627"/>
            <a:ext cx="10751670" cy="1144488"/>
          </a:xfrm>
          <a:prstGeom prst="rect">
            <a:avLst/>
          </a:prstGeom>
          <a:noFill/>
          <a:ln/>
        </p:spPr>
        <p:txBody>
          <a:bodyPr wrap="square" lIns="0" tIns="6815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Most systems centralize service events and schedules; work orders are core.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Common tech: relational DBs, REST APIs, cloud services; larger systems add IoT/telematics.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Uptime and record keeping improve, but parts, mechanic data, and billing are often not tightly linked.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Enterprise tools are feature-rich, but less customizable for academic and SME needs.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31428"/>
            <a:ext cx="10751670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Critical Analysis &amp; Synthesis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292225"/>
            <a:ext cx="5305292" cy="169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70416" y="1420019"/>
            <a:ext cx="204386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09416" y="1973659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Similarities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9416" y="2294930"/>
            <a:ext cx="492648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 orders, scheduling, and basic maintenance logs appear across studies; relational DBs are standard.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6390" y="1292225"/>
            <a:ext cx="5305292" cy="1690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6794" y="1420019"/>
            <a:ext cx="204386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55794" y="1973659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Differences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55794" y="2294930"/>
            <a:ext cx="492648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Scale and integrations differ: IoT-driven fleet systems vs lightweight workshop apps vs owner‑centric logs.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123704"/>
            <a:ext cx="5305292" cy="16903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70416" y="3251498"/>
            <a:ext cx="204386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09416" y="3805138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Strengths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09416" y="4126409"/>
            <a:ext cx="492648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Improved maintenance planning, analytics for fleets, and user access to service history.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6390" y="3123704"/>
            <a:ext cx="5305292" cy="16903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6794" y="3251498"/>
            <a:ext cx="204386" cy="25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355794" y="3805138"/>
            <a:ext cx="492648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Limitations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355794" y="4126409"/>
            <a:ext cx="492648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Gaps in unified parts tracking, mechanic provenance, invoice linkage, and open schemas for research/customization.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20012" y="4972745"/>
            <a:ext cx="113612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Existing Research → Findings → Design Decisions for Our System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20012" y="5380534"/>
            <a:ext cx="10751670" cy="8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Finding: Disconnected billing/parts — Decision: model invoices and parts usage as linked entities with FK constraints.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Finding: Mechanic data often absent — Decision: include mechanic profile and certifications as first-class records.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Finding: IoT analytics useful but separate — Decision: design schema that supports telematics join via vehicle_id for future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77180"/>
            <a:ext cx="4609687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Identified Gaps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720012" y="1154906"/>
            <a:ext cx="4609687" cy="1941215"/>
          </a:xfrm>
          <a:prstGeom prst="rect">
            <a:avLst/>
          </a:prstGeom>
          <a:noFill/>
          <a:ln/>
        </p:spPr>
        <p:txBody>
          <a:bodyPr wrap="square" lIns="0" tIns="68150" rIns="0" bIns="0" rtlCol="0" anchor="t">
            <a:normAutofit/>
          </a:bodyPr>
          <a:lstStyle/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Incomplete consolidated vehicle service history.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Service booking not tightly linked to recorded work and invoices.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Poor spare-parts usage tracking and inventory control.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Mechanic information and audit trails missing.</a:t>
            </a:r>
            <a:endParaRPr lang="en-US" sz="1300" dirty="0"/>
          </a:p>
          <a:p>
            <a:pPr algn="l" marL="264160" indent="-26416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Difficulty retrieving a complete vehicle history from one source.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751567" y="1335286"/>
            <a:ext cx="5726366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Our System Addresses Them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751567" y="1713012"/>
            <a:ext cx="5726366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Implementation note: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All components integrated into a PostgreSQL relational schema using primary keys, foreign keys, JOINs, and triggers to guarantee referential integrity and automate updates.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3304084"/>
            <a:ext cx="562159" cy="5621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8479" y="3304084"/>
            <a:ext cx="1817146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Management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58479" y="3861991"/>
            <a:ext cx="1817146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 table with contact and ownership relationships.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932" y="3304084"/>
            <a:ext cx="562159" cy="5621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90399" y="3304084"/>
            <a:ext cx="1817245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Vehicle Management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190399" y="3861991"/>
            <a:ext cx="1817245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Vehicle table linked to customer and VIN, primary vehicle keys.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52" y="3304084"/>
            <a:ext cx="562159" cy="5621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22418" y="3304084"/>
            <a:ext cx="181724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Service Booking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922418" y="3625354"/>
            <a:ext cx="1817245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Bookings linked to scheduled work orders and mechanics.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971" y="3304084"/>
            <a:ext cx="562159" cy="5621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54437" y="3304084"/>
            <a:ext cx="181724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Service Records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9654437" y="3625354"/>
            <a:ext cx="1817245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Normalized service_events table; timestamps, notes, and references.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12" y="4904085"/>
            <a:ext cx="562159" cy="56217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58479" y="4904085"/>
            <a:ext cx="1817146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Mechanic Management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458479" y="5461992"/>
            <a:ext cx="1817146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Mechanic profiles and certifications linked to performed tasks.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932" y="4904085"/>
            <a:ext cx="562159" cy="56217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190399" y="4904085"/>
            <a:ext cx="1817245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Spare Parts &amp; Inventory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4190399" y="5461992"/>
            <a:ext cx="1817245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Parts catalog + inventory table with consumption logs.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952" y="4904085"/>
            <a:ext cx="562159" cy="56217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22418" y="4904085"/>
            <a:ext cx="1817245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Invoice / Billing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6922418" y="5225355"/>
            <a:ext cx="1817245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Invoices linked to service_events and parts_used via foreign keys.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73596"/>
            <a:ext cx="10751670" cy="45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&amp; Project Contribution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20012" y="1542157"/>
            <a:ext cx="10751670" cy="2520255"/>
          </a:xfrm>
          <a:prstGeom prst="rect">
            <a:avLst/>
          </a:prstGeom>
          <a:noFill/>
          <a:ln/>
        </p:spPr>
        <p:txBody>
          <a:bodyPr wrap="square" lIns="0" tIns="82294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Literature indicates a clear shift to digital and connected maintenance systems for vehicles and fleets.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Existing approaches offer scheduling, work orders, and analytics but commonly lack integrated parts, mechanic provenance, and billing linkage.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review identified these recurring gaps and informed core design choices: a normalized relational schema and explicit linkages between customers, vehicles, services, mechanics, parts, and invoices.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Implementation will use PostgreSQL with primary keys, foreign keys, JOINs, stored functions and triggers to enforce integrity, automate stock updates, and produce comprehensive vehicle histories.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0012" y="4293791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Conclusion: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literature review helped identify the limitations of existing vehicle maintenance systems and guided the design of an integrated Vehicle Service History Management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012" y="5260777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5220" y="5855097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Questions &amp; feedback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2026-08-25T08:22:35Z</dcterms:created>
  <dcterms:modified xsi:type="dcterms:W3CDTF">2026-08-25T08:22:35Z</dcterms:modified>
</cp:coreProperties>
</file>