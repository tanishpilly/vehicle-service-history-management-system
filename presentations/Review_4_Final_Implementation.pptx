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embeddedFontLst>
    <p:embeddedFont>
      <p:font typeface="Geologica"/>
      <p:regular r:id="rId201314"/>
    </p:embeddedFont>
    <p:embeddedFont>
      <p:font typeface="Geologica Medium"/>
      <p:regular r:id="rId201315"/>
    </p:embeddedFont>
    <p:embeddedFont>
      <p:font typeface="Geologica SemiBold"/>
      <p:regular r:id="rId201316"/>
    </p:embeddedFont>
    <p:embeddedFont>
      <p:font typeface="Geologica Bold"/>
      <p:regular r:id="rId201317"/>
    </p:embeddedFont>
    <p:embeddedFont>
      <p:font typeface="Oxanium Medium"/>
      <p:regular r:id="rId2013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jpeg"/><Relationship Id="rId2" Type="http://schemas.openxmlformats.org/officeDocument/2006/relationships/image" Target="../media/image-1002-2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7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18">
              <a:alpha val="58000"/>
            </a:srgbClr>
          </a:solidFill>
          <a:ln/>
        </p:spPr>
      </p:sp>
      <p:pic>
        <p:nvPicPr>
          <p:cNvPr id="4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07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515620"/>
            <a:ext cx="5562461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B.TECH PROJECT REVIEW · REVIEW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3387" y="1646734"/>
            <a:ext cx="520687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77000"/>
              </a:lnSpc>
              <a:buNone/>
            </a:pPr>
            <a:r>
              <a:rPr lang="en-US" sz="5000" spc="-150" kern="100" dirty="0">
                <a:solidFill>
                  <a:srgbClr val="FFFFFF"/>
                </a:solidFill>
                <a:latin typeface="Oxanium Medium" pitchFamily="34" charset="0"/>
                <a:ea typeface="Oxanium Medium" pitchFamily="34" charset="-122"/>
                <a:cs typeface="Oxanium Medium" pitchFamily="34" charset="-120"/>
              </a:rPr>
              <a:t>VEHICLE SERVICE</a:t>
            </a:r>
            <a:endParaRPr lang="en-US" sz="5000" dirty="0"/>
          </a:p>
          <a:p>
            <a:pPr algn="l" indent="0" marL="0">
              <a:lnSpc>
                <a:spcPct val="77000"/>
              </a:lnSpc>
              <a:buNone/>
            </a:pPr>
            <a:r>
              <a:rPr lang="en-US" sz="5000" spc="-150" kern="100" dirty="0">
                <a:solidFill>
                  <a:srgbClr val="FFFFFF"/>
                </a:solidFill>
                <a:latin typeface="Oxanium Medium" pitchFamily="34" charset="0"/>
                <a:ea typeface="Oxanium Medium" pitchFamily="34" charset="-122"/>
                <a:cs typeface="Oxanium Medium" pitchFamily="34" charset="-120"/>
              </a:rPr>
              <a:t>HISTORY</a:t>
            </a:r>
            <a:endParaRPr lang="en-US" sz="5000" dirty="0"/>
          </a:p>
          <a:p>
            <a:pPr algn="l" indent="0" marL="0">
              <a:lnSpc>
                <a:spcPct val="77000"/>
              </a:lnSpc>
              <a:buNone/>
            </a:pPr>
            <a:r>
              <a:rPr lang="en-US" sz="5000" spc="-150" kern="100" dirty="0">
                <a:solidFill>
                  <a:srgbClr val="FFFFFF"/>
                </a:solidFill>
                <a:latin typeface="Oxanium Medium" pitchFamily="34" charset="0"/>
                <a:ea typeface="Oxanium Medium" pitchFamily="34" charset="-122"/>
                <a:cs typeface="Oxanium Medium" pitchFamily="34" charset="-120"/>
              </a:rPr>
              <a:t>MANAGEMENT</a:t>
            </a:r>
            <a:endParaRPr lang="en-US" sz="5000" dirty="0"/>
          </a:p>
          <a:p>
            <a:pPr algn="l" indent="0" marL="0">
              <a:lnSpc>
                <a:spcPct val="77000"/>
              </a:lnSpc>
              <a:buNone/>
            </a:pPr>
            <a:r>
              <a:rPr lang="en-US" sz="5000" spc="-150" kern="100" dirty="0">
                <a:solidFill>
                  <a:srgbClr val="FFFFFF"/>
                </a:solidFill>
                <a:latin typeface="Oxanium Medium" pitchFamily="34" charset="0"/>
                <a:ea typeface="Oxanium Medium" pitchFamily="34" charset="-122"/>
                <a:cs typeface="Oxanium Medium" pitchFamily="34" charset="-120"/>
              </a:rPr>
              <a:t>SYSTEM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33387" y="4142030"/>
            <a:ext cx="5562461" cy="280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Final Implementation &amp;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33387" y="4598888"/>
            <a:ext cx="5206870" cy="1827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spcAft>
                <a:spcPts val="1350"/>
              </a:spcAft>
              <a:buNone/>
            </a:pPr>
            <a:r>
              <a:rPr lang="en-US" sz="1200" spc="10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An end-to-end database-driven platform for appointments, pickup requests, service history, inventory, and billing.</a:t>
            </a:r>
            <a:endParaRPr lang="en-US" sz="1200" dirty="0"/>
          </a:p>
          <a:p>
            <a:pPr algn="l" indent="0" marL="0">
              <a:lnSpc>
                <a:spcPct val="115000"/>
              </a:lnSpc>
              <a:spcAft>
                <a:spcPts val="1350"/>
              </a:spcAft>
              <a:buNone/>
            </a:pPr>
            <a:r>
              <a:rPr lang="en-US" sz="1200" spc="10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Stack: React + Vite, Node.js + Express.js, PostgreSQL + pgAdmin4, REST APIs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spc="10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Tanish Pilly · 2510030055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spc="10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A Eshwar Sidhartha · 2510030265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spc="10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G Manikanta · 2510030199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51439" y="439420"/>
            <a:ext cx="5740256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END-TO-END PLATFORM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51439" y="744934"/>
            <a:ext cx="520687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3500" spc="-63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One connected journey, from request to history.</a:t>
            </a:r>
            <a:endParaRPr lang="en-US" sz="3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1439" y="1820466"/>
            <a:ext cx="5192682" cy="292090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51439" y="4923738"/>
            <a:ext cx="5740256" cy="2102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spc="10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Appointments · pickup requests · service history · inventory · billing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7220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A9C3C8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TECHNICAL COMPETENCE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942731"/>
            <a:ext cx="10972526" cy="666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5000" spc="-90" kern="100" dirty="0">
                <a:solidFill>
                  <a:srgbClr val="F2F7F6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Technical Implementation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09585" y="1739186"/>
            <a:ext cx="10972526" cy="26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F2F7F6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A full-stack application with relational data, REST APIs, and enforced inventory rules.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09585" y="2139553"/>
            <a:ext cx="2194465" cy="1061641"/>
          </a:xfrm>
          <a:custGeom>
            <a:avLst/>
            <a:gdLst/>
            <a:ahLst/>
            <a:cxnLst/>
            <a:rect l="l" t="t" r="r" b="b"/>
            <a:pathLst>
              <a:path w="2194465" h="1061641">
                <a:moveTo>
                  <a:pt x="9525" y="0"/>
                </a:moveTo>
                <a:lnTo>
                  <a:pt x="2194465" y="0"/>
                </a:lnTo>
                <a:lnTo>
                  <a:pt x="2194465" y="1061641"/>
                </a:lnTo>
                <a:lnTo>
                  <a:pt x="9525" y="1061641"/>
                </a:lnTo>
                <a:arcTo hR="9525" wR="9525" stAng="5400000" swAng="5400000"/>
                <a:lnTo>
                  <a:pt x="0" y="9525"/>
                </a:lnTo>
                <a:arcTo hR="9525" wR="9525" stAng="10800000" swAng="5400000"/>
                <a:close/>
              </a:path>
            </a:pathLst>
          </a:custGeom>
          <a:solidFill>
            <a:srgbClr val="F2F7F6"/>
          </a:solidFill>
          <a:ln/>
        </p:spPr>
      </p:sp>
      <p:sp>
        <p:nvSpPr>
          <p:cNvPr id="6" name="Text 4"/>
          <p:cNvSpPr/>
          <p:nvPr/>
        </p:nvSpPr>
        <p:spPr>
          <a:xfrm>
            <a:off x="812780" y="2274173"/>
            <a:ext cx="199127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01 · CLIENT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2780" y="2551589"/>
            <a:ext cx="1788076" cy="26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React + Vite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04050" y="2139553"/>
            <a:ext cx="2194465" cy="1061641"/>
          </a:xfrm>
          <a:prstGeom prst="rect">
            <a:avLst/>
          </a:prstGeom>
          <a:solidFill>
            <a:srgbClr val="F2F7F6"/>
          </a:solidFill>
          <a:ln/>
        </p:spPr>
      </p:sp>
      <p:sp>
        <p:nvSpPr>
          <p:cNvPr id="9" name="Text 7"/>
          <p:cNvSpPr/>
          <p:nvPr/>
        </p:nvSpPr>
        <p:spPr>
          <a:xfrm>
            <a:off x="3007245" y="2274173"/>
            <a:ext cx="199127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02 · API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07245" y="2551589"/>
            <a:ext cx="1788076" cy="26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REST APIs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998516" y="2139553"/>
            <a:ext cx="2194565" cy="1061641"/>
          </a:xfrm>
          <a:prstGeom prst="rect">
            <a:avLst/>
          </a:prstGeom>
          <a:solidFill>
            <a:srgbClr val="F2F7F6"/>
          </a:solidFill>
          <a:ln/>
        </p:spPr>
      </p:sp>
      <p:sp>
        <p:nvSpPr>
          <p:cNvPr id="12" name="Text 10"/>
          <p:cNvSpPr/>
          <p:nvPr/>
        </p:nvSpPr>
        <p:spPr>
          <a:xfrm>
            <a:off x="5201710" y="2274173"/>
            <a:ext cx="199137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03 · SERVER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01710" y="2551589"/>
            <a:ext cx="1788175" cy="530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Node.js + Express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193080" y="2139553"/>
            <a:ext cx="2194465" cy="1061641"/>
          </a:xfrm>
          <a:prstGeom prst="rect">
            <a:avLst/>
          </a:prstGeom>
          <a:solidFill>
            <a:srgbClr val="F2F7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96275" y="2274173"/>
            <a:ext cx="199127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04 · DATABASE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96275" y="2551589"/>
            <a:ext cx="1788076" cy="530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PostgreSQL + pgAdmin4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87546" y="2139553"/>
            <a:ext cx="2194565" cy="1061641"/>
          </a:xfrm>
          <a:custGeom>
            <a:avLst/>
            <a:gdLst/>
            <a:ahLst/>
            <a:cxnLst/>
            <a:rect l="l" t="t" r="r" b="b"/>
            <a:pathLst>
              <a:path w="2194565" h="1061641">
                <a:moveTo>
                  <a:pt x="0" y="0"/>
                </a:moveTo>
                <a:lnTo>
                  <a:pt x="2185040" y="0"/>
                </a:lnTo>
                <a:arcTo hR="9525" wR="9525" stAng="16200000" swAng="5400000"/>
                <a:lnTo>
                  <a:pt x="2194565" y="1052116"/>
                </a:lnTo>
                <a:arcTo hR="9525" wR="9525" stAng="0" swAng="5400000"/>
                <a:lnTo>
                  <a:pt x="0" y="1061641"/>
                </a:lnTo>
                <a:lnTo>
                  <a:pt x="0" y="0"/>
                </a:lnTo>
                <a:close/>
              </a:path>
            </a:pathLst>
          </a:custGeom>
          <a:solidFill>
            <a:srgbClr val="F2F7F6"/>
          </a:solidFill>
          <a:ln/>
        </p:spPr>
      </p:sp>
      <p:sp>
        <p:nvSpPr>
          <p:cNvPr id="18" name="Text 16"/>
          <p:cNvSpPr/>
          <p:nvPr/>
        </p:nvSpPr>
        <p:spPr>
          <a:xfrm>
            <a:off x="9590741" y="2274173"/>
            <a:ext cx="199137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05 · MODEL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590741" y="2551589"/>
            <a:ext cx="1788175" cy="530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8 relational tables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09585" y="3378994"/>
            <a:ext cx="5333867" cy="2093317"/>
          </a:xfrm>
          <a:prstGeom prst="roundRect">
            <a:avLst>
              <a:gd name="adj" fmla="val 546"/>
            </a:avLst>
          </a:prstGeom>
          <a:solidFill>
            <a:srgbClr val="262F37"/>
          </a:solidFill>
          <a:ln/>
        </p:spPr>
      </p:sp>
      <p:sp>
        <p:nvSpPr>
          <p:cNvPr id="21" name="Text 19"/>
          <p:cNvSpPr/>
          <p:nvPr/>
        </p:nvSpPr>
        <p:spPr>
          <a:xfrm>
            <a:off x="888978" y="3539014"/>
            <a:ext cx="5054474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A9C3C8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DATABASE PROOF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8978" y="3845068"/>
            <a:ext cx="4775081" cy="8411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2F7F6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customers · vehicles · mechanics · service_bookings · service_records · spare_parts · parts_used · invoices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88978" y="4803783"/>
            <a:ext cx="4775081" cy="4204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spc="10" kern="100" dirty="0">
                <a:solidFill>
                  <a:srgbClr val="A9C3C8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Primary and foreign keys · referential integrity · multi-table JOINs · aggregate queries · GROUP BY and ORDER BY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48244" y="3378994"/>
            <a:ext cx="5333867" cy="2093317"/>
          </a:xfrm>
          <a:prstGeom prst="rect">
            <a:avLst/>
          </a:prstGeom>
          <a:solidFill>
            <a:srgbClr val="071018"/>
          </a:solidFill>
          <a:ln/>
        </p:spPr>
      </p:sp>
      <p:sp>
        <p:nvSpPr>
          <p:cNvPr id="25" name="Text 23"/>
          <p:cNvSpPr/>
          <p:nvPr/>
        </p:nvSpPr>
        <p:spPr>
          <a:xfrm>
            <a:off x="6527637" y="3539014"/>
            <a:ext cx="5054474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CORE RULE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27637" y="3845068"/>
            <a:ext cx="4775081" cy="560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Parts Used → Trigger → Check Stock → Sufficient? → Deduct Stock or Reject Operation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09585" y="5654683"/>
            <a:ext cx="11582110" cy="2102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spc="10" kern="100" dirty="0">
                <a:solidFill>
                  <a:srgbClr val="A9C3C8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Views and functions: service_history_view · get_vehicle_service_history() · PostgreSQL trigger · automatic inventory deduction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585" y="6042727"/>
            <a:ext cx="11582110" cy="2102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spc="10" kern="100" dirty="0">
                <a:solidFill>
                  <a:srgbClr val="A9C3C8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SQL example · SELECT * FROM get_vehicle_service_history('TS09AB1234');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797700" y="2139553"/>
            <a:ext cx="12700" cy="1061641"/>
          </a:xfrm>
          <a:prstGeom prst="rect">
            <a:avLst/>
          </a:prstGeom>
          <a:solidFill>
            <a:srgbClr val="6C5C8D"/>
          </a:solidFill>
          <a:ln/>
        </p:spPr>
      </p:sp>
      <p:sp>
        <p:nvSpPr>
          <p:cNvPr id="30" name="Shape 28"/>
          <p:cNvSpPr/>
          <p:nvPr/>
        </p:nvSpPr>
        <p:spPr>
          <a:xfrm>
            <a:off x="4992166" y="2139553"/>
            <a:ext cx="12700" cy="1061641"/>
          </a:xfrm>
          <a:prstGeom prst="rect">
            <a:avLst/>
          </a:prstGeom>
          <a:solidFill>
            <a:srgbClr val="6C5C8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86730" y="2139553"/>
            <a:ext cx="12700" cy="1061641"/>
          </a:xfrm>
          <a:prstGeom prst="rect">
            <a:avLst/>
          </a:prstGeom>
          <a:solidFill>
            <a:srgbClr val="6C5C8D"/>
          </a:solidFill>
          <a:ln/>
        </p:spPr>
      </p:sp>
      <p:sp>
        <p:nvSpPr>
          <p:cNvPr id="32" name="Shape 30"/>
          <p:cNvSpPr/>
          <p:nvPr/>
        </p:nvSpPr>
        <p:spPr>
          <a:xfrm>
            <a:off x="9381196" y="2139553"/>
            <a:ext cx="12700" cy="1061641"/>
          </a:xfrm>
          <a:prstGeom prst="rect">
            <a:avLst/>
          </a:prstGeom>
          <a:solidFill>
            <a:srgbClr val="6C5C8D"/>
          </a:solidFill>
          <a:ln/>
        </p:spPr>
      </p:sp>
      <p:sp>
        <p:nvSpPr>
          <p:cNvPr id="33" name="Text 31"/>
          <p:cNvSpPr/>
          <p:nvPr/>
        </p:nvSpPr>
        <p:spPr>
          <a:xfrm>
            <a:off x="10845231" y="6416973"/>
            <a:ext cx="1142971" cy="272455"/>
          </a:xfrm>
          <a:prstGeom prst="rect">
            <a:avLst/>
          </a:prstGeom>
          <a:noFill/>
          <a:ln/>
        </p:spPr>
        <p:txBody>
          <a:bodyPr wrap="none" lIns="0" tIns="63498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2F7F6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7220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A9C3C8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ACCURACY OF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922734"/>
            <a:ext cx="10972526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3500" spc="-63" kern="100" dirty="0">
                <a:solidFill>
                  <a:srgbClr val="F2F7F6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Accuracy of Results — End-to-End Verification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609585" y="1539161"/>
            <a:ext cx="10972526" cy="530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F2F7F6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End-to-end testing confirms that customer requests flow through the service-center workflow to service completion and billing.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09585" y="2205212"/>
            <a:ext cx="10972526" cy="490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2F7F6"/>
                </a:solidFill>
                <a:latin typeface="Geologica Bold" pitchFamily="34" charset="0"/>
                <a:ea typeface="Geologica Bold" pitchFamily="34" charset="-122"/>
                <a:cs typeface="Geologica Bold" pitchFamily="34" charset="-120"/>
              </a:rPr>
              <a:t>Customer Login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7F6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 → Vehicle Selection → Service Booking → Pickup Request → Service Center Notification → Mechanic Assignment → Service Record → Parts Used → Automatic Stock Deduction → Invoice → Service History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585" y="2872978"/>
          <a:ext cx="5333867" cy="914400"/>
        </p:xfrm>
        <a:graphic>
          <a:graphicData uri="http://schemas.openxmlformats.org/drawingml/2006/table">
            <a:tbl>
              <a:tblPr/>
              <a:tblGrid>
                <a:gridCol w="3733707"/>
                <a:gridCol w="1600160"/>
              </a:tblGrid>
              <a:tr h="45560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Test</a:t>
                      </a:r>
                      <a:endParaRPr lang="en-US" sz="16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Result</a:t>
                      </a:r>
                      <a:endParaRPr lang="en-US" sz="16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47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Customer Login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PASS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47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Service Booking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PASS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47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Pickup Request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PASS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47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Insurance Upload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PASS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47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Service Center Notification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PASS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77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Mechanic Assignment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PASS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8244" y="2872978"/>
          <a:ext cx="5333867" cy="914400"/>
        </p:xfrm>
        <a:graphic>
          <a:graphicData uri="http://schemas.openxmlformats.org/drawingml/2006/table">
            <a:tbl>
              <a:tblPr/>
              <a:tblGrid>
                <a:gridCol w="3733707"/>
                <a:gridCol w="1600160"/>
              </a:tblGrid>
              <a:tr h="45560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Test</a:t>
                      </a:r>
                      <a:endParaRPr lang="en-US" sz="16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Result</a:t>
                      </a:r>
                      <a:endParaRPr lang="en-US" sz="16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47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Automatic Stock Deduction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PASS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47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Insufficient Stock Validation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PASS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47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Invoice Generation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PASS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47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Service History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PASS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77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QR Access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2F7F6"/>
                          </a:solidFill>
                          <a:latin typeface="Geologica" pitchFamily="34" charset="0"/>
                          <a:ea typeface="Geologica" pitchFamily="34" charset="-122"/>
                          <a:cs typeface="Geologica" pitchFamily="34" charset="-120"/>
                        </a:rPr>
                        <a:t>PASS</a:t>
                      </a:r>
                      <a:endParaRPr lang="en-US" sz="1400" dirty="0">
                        <a:latin typeface="Geologica" charset="0"/>
                        <a:ea typeface="Geologica" charset="0"/>
                        <a:cs typeface="Geologica" charset="0"/>
                      </a:endParaRPr>
                    </a:p>
                  </a:txBody>
                  <a:tcPr marL="152396" marR="152396" marT="81278" marB="81278" anchor="ctr">
                    <a:lnL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E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10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09585" y="6021197"/>
            <a:ext cx="11582110" cy="2102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spc="10" kern="100" dirty="0">
                <a:solidFill>
                  <a:srgbClr val="A9C3C8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Implemented and tested workflow checks · every supplied verification result is PASS.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0845231" y="6416973"/>
            <a:ext cx="1142971" cy="272455"/>
          </a:xfrm>
          <a:prstGeom prst="rect">
            <a:avLst/>
          </a:prstGeom>
          <a:noFill/>
          <a:ln/>
        </p:spPr>
        <p:txBody>
          <a:bodyPr wrap="none" lIns="0" tIns="63498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2F7F6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7220"/>
            <a:ext cx="1158211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A9C3C8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INNOVATION · SUSTAINABILITY · UTILITY TO SOCIETY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942731"/>
            <a:ext cx="10972526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5000" spc="-90" kern="100" dirty="0">
                <a:solidFill>
                  <a:srgbClr val="F2F7F6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Innovation becomes useful when the whole service journey connects.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609585" y="2417366"/>
            <a:ext cx="2514537" cy="1361976"/>
          </a:xfrm>
          <a:prstGeom prst="rect">
            <a:avLst/>
          </a:prstGeom>
          <a:solidFill>
            <a:srgbClr val="F2F7F6"/>
          </a:solidFill>
          <a:ln/>
        </p:spPr>
      </p:sp>
      <p:sp>
        <p:nvSpPr>
          <p:cNvPr id="5" name="Text 3"/>
          <p:cNvSpPr/>
          <p:nvPr/>
        </p:nvSpPr>
        <p:spPr>
          <a:xfrm>
            <a:off x="838179" y="2620566"/>
            <a:ext cx="8400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38179" y="2905026"/>
            <a:ext cx="2057349" cy="19050"/>
          </a:xfrm>
          <a:prstGeom prst="rect">
            <a:avLst/>
          </a:prstGeom>
          <a:solidFill>
            <a:srgbClr val="071018"/>
          </a:solidFill>
          <a:ln/>
        </p:spPr>
      </p:sp>
      <p:sp>
        <p:nvSpPr>
          <p:cNvPr id="7" name="Text 5"/>
          <p:cNvSpPr/>
          <p:nvPr/>
        </p:nvSpPr>
        <p:spPr>
          <a:xfrm>
            <a:off x="838179" y="3053536"/>
            <a:ext cx="2057349" cy="26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Digital Records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28914" y="2417366"/>
            <a:ext cx="2514537" cy="1361976"/>
          </a:xfrm>
          <a:prstGeom prst="rect">
            <a:avLst/>
          </a:prstGeom>
          <a:solidFill>
            <a:srgbClr val="F2F7F6"/>
          </a:solidFill>
          <a:ln/>
        </p:spPr>
      </p:sp>
      <p:sp>
        <p:nvSpPr>
          <p:cNvPr id="9" name="Text 7"/>
          <p:cNvSpPr/>
          <p:nvPr/>
        </p:nvSpPr>
        <p:spPr>
          <a:xfrm>
            <a:off x="3657509" y="2620566"/>
            <a:ext cx="86516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657509" y="2905026"/>
            <a:ext cx="2057349" cy="19050"/>
          </a:xfrm>
          <a:prstGeom prst="rect">
            <a:avLst/>
          </a:prstGeom>
          <a:solidFill>
            <a:srgbClr val="071018"/>
          </a:solidFill>
          <a:ln/>
        </p:spPr>
      </p:sp>
      <p:sp>
        <p:nvSpPr>
          <p:cNvPr id="11" name="Text 9"/>
          <p:cNvSpPr/>
          <p:nvPr/>
        </p:nvSpPr>
        <p:spPr>
          <a:xfrm>
            <a:off x="3657509" y="3053536"/>
            <a:ext cx="2057349" cy="26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Less Paperwork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48244" y="2417366"/>
            <a:ext cx="2514537" cy="1361976"/>
          </a:xfrm>
          <a:prstGeom prst="rect">
            <a:avLst/>
          </a:prstGeom>
          <a:solidFill>
            <a:srgbClr val="F2F7F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6838" y="2620566"/>
            <a:ext cx="8671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76838" y="2905026"/>
            <a:ext cx="2057349" cy="19050"/>
          </a:xfrm>
          <a:prstGeom prst="rect">
            <a:avLst/>
          </a:prstGeom>
          <a:solidFill>
            <a:srgbClr val="071018"/>
          </a:solidFill>
          <a:ln/>
        </p:spPr>
      </p:sp>
      <p:sp>
        <p:nvSpPr>
          <p:cNvPr id="15" name="Text 13"/>
          <p:cNvSpPr/>
          <p:nvPr/>
        </p:nvSpPr>
        <p:spPr>
          <a:xfrm>
            <a:off x="6476838" y="3053536"/>
            <a:ext cx="2057349" cy="530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Better Accessibility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067573" y="2417366"/>
            <a:ext cx="2514537" cy="1361976"/>
          </a:xfrm>
          <a:prstGeom prst="rect">
            <a:avLst/>
          </a:prstGeom>
          <a:solidFill>
            <a:srgbClr val="F2F7F6"/>
          </a:solidFill>
          <a:ln/>
        </p:spPr>
      </p:sp>
      <p:sp>
        <p:nvSpPr>
          <p:cNvPr id="17" name="Text 15"/>
          <p:cNvSpPr/>
          <p:nvPr/>
        </p:nvSpPr>
        <p:spPr>
          <a:xfrm>
            <a:off x="9296167" y="2620566"/>
            <a:ext cx="87280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296167" y="2905026"/>
            <a:ext cx="2057349" cy="19050"/>
          </a:xfrm>
          <a:prstGeom prst="rect">
            <a:avLst/>
          </a:prstGeom>
          <a:solidFill>
            <a:srgbClr val="071018"/>
          </a:solidFill>
          <a:ln/>
        </p:spPr>
      </p:sp>
      <p:sp>
        <p:nvSpPr>
          <p:cNvPr id="19" name="Text 17"/>
          <p:cNvSpPr/>
          <p:nvPr/>
        </p:nvSpPr>
        <p:spPr>
          <a:xfrm>
            <a:off x="9296167" y="3053536"/>
            <a:ext cx="2057349" cy="530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Better Service Transparency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4377" y="4167961"/>
            <a:ext cx="518147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A9C3C8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CUSTOMER-FIRST FEATURES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377" y="4474016"/>
            <a:ext cx="4876678" cy="11215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2F7F6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Customer-first booking · pickup from a provided address · service-center pickup notification · digital insurance attachment · QR-based vehicle access · digital service history · digital invoices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377" y="5713123"/>
            <a:ext cx="4876678" cy="4204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spc="10" kern="100" dirty="0">
                <a:solidFill>
                  <a:srgbClr val="A9C3C8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Customers gain easier booking, pickup convenience, transparent status, accessible history, digital invoices, and less paperwork.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640" y="4167961"/>
            <a:ext cx="518147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A9C3C8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SERVICE-CENTER UTILITY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640" y="4474016"/>
            <a:ext cx="5181470" cy="280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2F7F6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Automatic spare-parts management.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00640" y="4871946"/>
            <a:ext cx="4876678" cy="63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spc="10" kern="100" dirty="0">
                <a:solidFill>
                  <a:srgbClr val="A9C3C8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Service centers gain centralized records, organized bookings, pickup visibility, mechanic management, inventory control, automated billing, reports, and analytics.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89498" y="3957141"/>
            <a:ext cx="12700" cy="2324298"/>
          </a:xfrm>
          <a:prstGeom prst="rect">
            <a:avLst/>
          </a:prstGeom>
          <a:solidFill>
            <a:srgbClr val="6C5C8D"/>
          </a:solidFill>
          <a:ln/>
        </p:spPr>
      </p:sp>
      <p:sp>
        <p:nvSpPr>
          <p:cNvPr id="27" name="Text 25"/>
          <p:cNvSpPr/>
          <p:nvPr/>
        </p:nvSpPr>
        <p:spPr>
          <a:xfrm>
            <a:off x="10845231" y="6416973"/>
            <a:ext cx="1142971" cy="272455"/>
          </a:xfrm>
          <a:prstGeom prst="rect">
            <a:avLst/>
          </a:prstGeom>
          <a:noFill/>
          <a:ln/>
        </p:spPr>
        <p:txBody>
          <a:bodyPr wrap="none" lIns="0" tIns="63498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2F7F6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6858000"/>
          </a:xfrm>
          <a:prstGeom prst="rect">
            <a:avLst/>
          </a:prstGeom>
          <a:solidFill>
            <a:srgbClr val="F2F7F6"/>
          </a:solidFill>
          <a:ln/>
        </p:spPr>
      </p:sp>
      <p:sp>
        <p:nvSpPr>
          <p:cNvPr id="3" name="Text 1"/>
          <p:cNvSpPr/>
          <p:nvPr/>
        </p:nvSpPr>
        <p:spPr>
          <a:xfrm>
            <a:off x="507987" y="439420"/>
            <a:ext cx="680703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FINAL OUTCOME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7987" y="748903"/>
            <a:ext cx="640064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77000"/>
              </a:lnSpc>
              <a:buNone/>
            </a:pPr>
            <a:r>
              <a:rPr lang="en-US" sz="5000" spc="-150" kern="100" dirty="0">
                <a:solidFill>
                  <a:srgbClr val="000000"/>
                </a:solidFill>
                <a:latin typeface="Oxanium Medium" pitchFamily="34" charset="0"/>
                <a:ea typeface="Oxanium Medium" pitchFamily="34" charset="-122"/>
                <a:cs typeface="Oxanium Medium" pitchFamily="34" charset="-120"/>
              </a:rPr>
              <a:t>BUILT, CONNECTED,</a:t>
            </a:r>
            <a:endParaRPr lang="en-US" sz="5000" dirty="0"/>
          </a:p>
          <a:p>
            <a:pPr algn="l" indent="0" marL="0">
              <a:lnSpc>
                <a:spcPct val="77000"/>
              </a:lnSpc>
              <a:buNone/>
            </a:pPr>
            <a:r>
              <a:rPr lang="en-US" sz="5000" spc="-150" kern="100" dirty="0">
                <a:solidFill>
                  <a:srgbClr val="000000"/>
                </a:solidFill>
                <a:latin typeface="Oxanium Medium" pitchFamily="34" charset="0"/>
                <a:ea typeface="Oxanium Medium" pitchFamily="34" charset="-122"/>
                <a:cs typeface="Oxanium Medium" pitchFamily="34" charset="-120"/>
              </a:rPr>
              <a:t>AND READY TO DEMONSTRATE.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07987" y="4045025"/>
            <a:ext cx="3124023" cy="1226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Working customer and service-center login, customer-first interface, service appointment booking, pickup request and address management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784406" y="4045025"/>
            <a:ext cx="3124122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Insurance attachment, service-center notifications, PostgreSQL integration, automatic inventory management, invoice with GST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7987" y="5423769"/>
            <a:ext cx="6400541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Complete vehicle service history, QR-based access, reports and analytics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7987" y="5850838"/>
            <a:ext cx="6400640" cy="630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spc="10" kern="100" dirty="0">
                <a:solidFill>
                  <a:srgbClr val="000000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The system combines a relational PostgreSQL database with a full-stack web application to provide an accurate, technically robust, and practical vehicle-service management solution.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017" y="0"/>
            <a:ext cx="4876678" cy="6858000"/>
          </a:xfrm>
          <a:prstGeom prst="rect">
            <a:avLst/>
          </a:prstGeom>
          <a:solidFill>
            <a:srgbClr val="071018"/>
          </a:solidFill>
          <a:ln/>
        </p:spPr>
      </p:sp>
      <p:sp>
        <p:nvSpPr>
          <p:cNvPr id="10" name="Text 8"/>
          <p:cNvSpPr/>
          <p:nvPr/>
        </p:nvSpPr>
        <p:spPr>
          <a:xfrm>
            <a:off x="7670608" y="439420"/>
            <a:ext cx="4521087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78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LIVE DEMONSTRATION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670608" y="744934"/>
            <a:ext cx="4089298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3500" spc="-63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Follow the working path.</a:t>
            </a:r>
            <a:endParaRPr lang="en-US" sz="3500" dirty="0"/>
          </a:p>
        </p:txBody>
      </p:sp>
      <p:sp>
        <p:nvSpPr>
          <p:cNvPr id="12" name="Text 10"/>
          <p:cNvSpPr/>
          <p:nvPr/>
        </p:nvSpPr>
        <p:spPr>
          <a:xfrm>
            <a:off x="7670608" y="1847136"/>
            <a:ext cx="4089298" cy="26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LOGIN 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670608" y="2531348"/>
            <a:ext cx="4089298" cy="26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BOOK 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670608" y="3215561"/>
            <a:ext cx="4089298" cy="26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PICKUP 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70608" y="3899773"/>
            <a:ext cx="4089298" cy="26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SERVICE →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670608" y="4584085"/>
            <a:ext cx="4089298" cy="26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INVENTORY 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670608" y="5268397"/>
            <a:ext cx="4089298" cy="26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INVOICE →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670608" y="5952708"/>
            <a:ext cx="4089298" cy="265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7000"/>
              </a:lnSpc>
              <a:buNone/>
            </a:pPr>
            <a:r>
              <a:rPr lang="en-US" sz="1800" spc="-22" kern="100" dirty="0">
                <a:solidFill>
                  <a:srgbClr val="FFFFFF"/>
                </a:solidFill>
                <a:latin typeface="Geologica Medium" pitchFamily="34" charset="0"/>
                <a:ea typeface="Geologica Medium" pitchFamily="34" charset="-122"/>
                <a:cs typeface="Geologica Medium" pitchFamily="34" charset="-120"/>
              </a:rPr>
              <a:t>HISTORY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45231" y="6416973"/>
            <a:ext cx="1142971" cy="272455"/>
          </a:xfrm>
          <a:prstGeom prst="rect">
            <a:avLst/>
          </a:prstGeom>
          <a:noFill/>
          <a:ln/>
        </p:spPr>
        <p:txBody>
          <a:bodyPr wrap="none" lIns="0" tIns="63498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2F7F6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2026-10-08T17:31:19Z</dcterms:created>
  <dcterms:modified xsi:type="dcterms:W3CDTF">2026-10-08T17:31:19Z</dcterms:modified>
</cp:coreProperties>
</file>